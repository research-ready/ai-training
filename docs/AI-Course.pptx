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notesMaster" Target="notesMasters/notesMaster1.xml" /><Relationship Id="rId38" Type="http://schemas.openxmlformats.org/officeDocument/2006/relationships/viewProps" Target="viewProps.xml" /><Relationship Id="rId37" Type="http://schemas.openxmlformats.org/officeDocument/2006/relationships/presProps" Target="presProps.xml" /><Relationship Id="rId1" Type="http://schemas.openxmlformats.org/officeDocument/2006/relationships/slideMaster" Target="slideMasters/slideMaster1.xml" /><Relationship Id="rId40" Type="http://schemas.openxmlformats.org/officeDocument/2006/relationships/tableStyles" Target="tableStyles.xml" /><Relationship Id="rId3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everyone. Over the next hour, we’re going to demystify AI and give you practical skills to use it effectively in your research. We’re not here to talk about hype; we’re here to get hands-on and see how these tools can make a real difference in your day-to-day work.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by setting some clear goals for this first section. We’ll cover the ‘why’, the ‘what’, and the ‘how’ to get you started on solid ground. The main goal here is to get you comfortable and confident enough to run your first simple task.</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Does this feel familiar? The daily grind of research involves a lot of tasks that are necessary but not exactly where we add the most value. We’re going to explore how AI can help automate or speed up the left side, so you can spend more time on the right side: thinking, analyzing, and creating.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demystify the term ‘Generative AI’. Forget complex definitions. The easiest way to think about it is as a super-advanced prediction engine. Just like your phone suggests the next word, AI suggests the next sentence, or the next paragraph. This is key to understanding both its power and its limitations. It’s a pattern-matcher, not a thinking machine.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our sandbox for today. OpenWebUI gives us a private, controlled space. You don’t have to worry about your data being used for training or shared publicly. Take a moment to find the key features I’ve pointed out. We’ll be using the chat interface and file upload features in our exercises.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we even write our first prompt, we need to cover the single most important limitation: hallucinations. Because the AI is just predicting the next word, it can very convincingly make things up. It might sound authoritative, but it could be complete nonsense. This is why you, the researcher, are still the most important part of the process. Your critical eye is non-negotiable.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Okay, it’s time to get your hands dirty. This first exercise is just about getting comfortable with the interface. Type the prompt exactly as shown. The goal is simply to interact with the AI and see what it produces. We’re not judging the quality of the output just yet, just getting a feel for the process.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that you’ve had a first taste, let’s get into the most important skill for working with AI: prompting. This module is all about learning how to ask questions in a way that gets you useful, reliable results. We’ll learn a simple framework and then apply it to some common research tasks.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quality of your output depends almost entirely on the quality of your input. A vague prompt gets a useless, vague, or even ridiculous answer. A specific, contextualized prompt gets a specific, useful answer. Look at the difference here. The better prompt provides context (port strike), specifies the goal (maintain supply to Asia), and sets rules for the output (three options, pros and cons).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a simple framework to help you build effective prompts every time. CARE. Before you hit enter, ask yourself: Have I given the AI enough Context? Is my Ask clear? Have I set Rules for the output? Could I provide an Example of what I want? You don’t always need all four, but thinking through them will dramatically improve your results.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I’ll demonstrate how this works in practice. I’m going to take an abstract, and instead of just saying “summarize this,” I’m going to build a CARE prompt. I’ll define the persona, state the context, give it a clear task, and set rules for the output. Watch how the result is much more structured and useful than if I had used a simple, one-line prompt.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Your turn. Find an abstract from a paper you know. Use the prompt structure we just discussed to ask for a summary. The key here is to practice applying the ‘Rules’ part of the CARE framework. Don’t just ask for a summary; ask for a summary of a specific length that contains specific elements. Then, critically evaluate the output.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let’s go beyond summarization. The real power of AI in research is for exploration. Take a paper and ask it specific, targeted questions. Notice how these prompts are much more powerful than “what is this paper about?”. We’re directing the AI to specific sections and asking it to perform specific tasks, like listing or extracting. Remember Rule #1: Always verify the answers.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of the most practical, time-saving uses of AI. We all have messy notes. This exercise shows you how to get the AI to do the tedious work of organizing them. The key is specifying the exact format you want, in this case, a Markdown table with specific column headers. This makes the output immediately usable.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tackle writing. The key here is to use the AI as a starting point, not a final writer. This prompt is carefully constructed to be safe. We’re telling it to ONLY use the information we provided, which reduces the risk of hallucination. We are also asking for citation placeholders, reminding ourselves that we need to add the real references. Never copy-paste AI-generated text into your work without a thorough review and editing process.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focused on the ‘how’. Now let’s zoom out to the ‘what’ and ‘why’. In this module, we’ll look at how these skills apply to the bigger picture of your research and the world around us. We’ll also touch on some of the critical ethical considerations you need to be aware of.</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tasks we practiced—summarizing, exploring, structuring—are the building blocks for these larger research activities. You can see how speeding up these micro-tasks can have a huge impact on the macro-level process, from literature reviews to collaborating with your team.</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look at a real-world example from supply chain management. Companies like Amazon and DHL are using AI on a massive scale to do things that are conceptually similar to what we’ve just practiced: they take in data (context), ask questions (ask), and generate predictions or plans (output). This is a great illustration of how these skills are relevant beyond academia.</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another critical limitation to be aware of. AI is not objective. It learns from the vast, messy, and biased world of text on the internet. This means it can perpetuate and even amplify stereotypes. As a researcher, it’s your job to be on the lookout for this and to critically assess whether the AI’s output is fair and unbiased.</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take a few minutes to discuss some of these important ethical questions. I’ll break you into small groups. I want you to talk about these three points. There are no easy answers here, but it’s crucial that we, as a research community, engage with these questions thoughtfully. (After discussion) The consensus is clear: use private systems like OpenWebUI for sensitive data, always disclose your use of AI, and remember that you, the researcher, are always the one who is ultimately accountable for your work.</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in the home stretch. In this final module, we’ll bring everything together, connect it back to your own research journey, and make sure you leave with a clear plan for what to do next.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those of you familiar with the VCH Theory U process, think about how AI can plug into each stage. It’s a tool that can assist you all the way through, from understanding the problem to scaling the solution. It’s particularly powerful in the early stages for sense-making and in the later stages for documentation and reporting.</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quickly recap the most important points from today. If you remember nothing else, remember these things. AI is a tool, you get out what you put in, and you are always the one in the driver’s seat. Your critical judgment is your most valuable asset.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what’s next? The key is to build momentum. Don’t let this be just a workshop. Pick one thing from today and apply it to your work this week. Practice is the only way to get good at this. And please, share your experiences with the community. We’ll all learn faster together.</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I’d like to open it up for any questions you might have.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Thank you for your time and participation today. I hope you feel empowered to start using these tools in your own work. Please don’t hesitate to reach out if you have any questions.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5.xml" /><Relationship Id="rId3"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AI for Researchers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From Foundations to Application</a:t>
            </a:r>
            <a:br/>
            <a:br/>
            <a:r>
              <a:rPr/>
              <a:t>C.G Verhoef</a:t>
            </a:r>
          </a:p>
        </p:txBody>
      </p:sp>
      <p:sp>
        <p:nvSpPr>
          <p:cNvPr id="4" name="Date Placeholder 3"/>
          <p:cNvSpPr>
            <a:spLocks noGrp="1"/>
          </p:cNvSpPr>
          <p:nvPr>
            <p:ph idx="10" sz="half" type="dt"/>
          </p:nvPr>
        </p:nvSpPr>
        <p:spPr/>
        <p:txBody>
          <a:bodyPr/>
          <a:lstStyle/>
          <a:p>
            <a:pPr lvl="0" indent="0" marL="0">
              <a:buNone/>
            </a:pPr>
            <a:r>
              <a:rPr/>
              <a:t>2026-01-01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1: Getting Started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&amp; Today’s Goal</a:t>
            </a:r>
          </a:p>
        </p:txBody>
      </p:sp>
      <p:sp>
        <p:nvSpPr>
          <p:cNvPr id="3" name="Content Placeholder 2"/>
          <p:cNvSpPr>
            <a:spLocks noGrp="1"/>
          </p:cNvSpPr>
          <p:nvPr>
            <p:ph idx="1"/>
          </p:nvPr>
        </p:nvSpPr>
        <p:spPr/>
        <p:txBody>
          <a:bodyPr/>
          <a:lstStyle/>
          <a:p>
            <a:pPr lvl="0" indent="0" marL="0">
              <a:buNone/>
            </a:pPr>
            <a:r>
              <a:rPr/>
              <a:t> </a:t>
            </a:r>
          </a:p>
          <a:p>
            <a:pPr lvl="0" indent="0" marL="0">
              <a:buNone/>
            </a:pPr>
            <a:r>
              <a:rPr b="1"/>
              <a:t>Our Goal:</a:t>
            </a:r>
            <a:r>
              <a:rPr/>
              <a:t> To explore how AI can become your </a:t>
            </a:r>
            <a:r>
              <a:rPr b="1"/>
              <a:t>research assistant</a:t>
            </a:r>
            <a:r>
              <a:rPr/>
              <a:t>, helping you work smarter, not harder.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 . .</a:t>
            </a:r>
          </a:p>
          <a:p>
            <a:pPr lvl="0" indent="0" marL="0">
              <a:buNone/>
            </a:pPr>
            <a:r>
              <a:rPr/>
              <a:t>By the end of this module, you will be able to:</a:t>
            </a:r>
          </a:p>
          <a:p>
            <a:pPr lvl="0"/>
            <a:r>
              <a:rPr b="1"/>
              <a:t>Articulate</a:t>
            </a:r>
            <a:r>
              <a:rPr/>
              <a:t> why AI is relevant to your research process.</a:t>
            </a:r>
          </a:p>
          <a:p>
            <a:pPr lvl="0"/>
            <a:r>
              <a:rPr b="1"/>
              <a:t>Define</a:t>
            </a:r>
            <a:r>
              <a:rPr/>
              <a:t> Generative AI with a simple metaphor.</a:t>
            </a:r>
          </a:p>
          <a:p>
            <a:pPr lvl="0"/>
            <a:r>
              <a:rPr b="1"/>
              <a:t>Navigate</a:t>
            </a:r>
            <a:r>
              <a:rPr/>
              <a:t> the basic features of our OpenWebUI environment.</a:t>
            </a:r>
          </a:p>
          <a:p>
            <a:pPr lvl="0"/>
            <a:r>
              <a:rPr b="1"/>
              <a:t>Execute</a:t>
            </a:r>
            <a:r>
              <a:rPr/>
              <a:t> your first successful prompt.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Challenge for Researchers</a:t>
            </a:r>
          </a:p>
        </p:txBody>
      </p:sp>
      <p:sp>
        <p:nvSpPr>
          <p:cNvPr id="3" name="Content Placeholder 2"/>
          <p:cNvSpPr>
            <a:spLocks noGrp="1"/>
          </p:cNvSpPr>
          <p:nvPr>
            <p:ph idx="1" sz="half"/>
          </p:nvPr>
        </p:nvSpPr>
        <p:spPr/>
        <p:txBody>
          <a:bodyPr/>
          <a:lstStyle/>
          <a:p>
            <a:pPr lvl="0" indent="0" marL="0">
              <a:spcBef>
                <a:spcPts val="3000"/>
              </a:spcBef>
              <a:buNone/>
            </a:pPr>
            <a:r>
              <a:rPr b="1"/>
              <a:t>The Problem</a:t>
            </a:r>
          </a:p>
          <a:p>
            <a:pPr lvl="0"/>
            <a:r>
              <a:rPr/>
              <a:t>📄 Hours spent on tedious literature reviews.</a:t>
            </a:r>
          </a:p>
          <a:p>
            <a:pPr lvl="0"/>
            <a:r>
              <a:rPr/>
              <a:t>🗂️ Unstructured notes that are hard to organize.</a:t>
            </a:r>
          </a:p>
          <a:p>
            <a:pPr lvl="0"/>
            <a:r>
              <a:rPr/>
              <a:t>🚫 Writer’s block when drafting a new section.</a:t>
            </a:r>
          </a:p>
          <a:p>
            <a:pPr lvl="0"/>
            <a:r>
              <a:rPr/>
              <a:t>⏰ Time wasted on repeatable, non-creative tasks.</a:t>
            </a:r>
          </a:p>
        </p:txBody>
      </p:sp>
      <p:sp>
        <p:nvSpPr>
          <p:cNvPr id="4" name="Content Placeholder 3"/>
          <p:cNvSpPr>
            <a:spLocks noGrp="1"/>
          </p:cNvSpPr>
          <p:nvPr>
            <p:ph idx="2" sz="half"/>
          </p:nvPr>
        </p:nvSpPr>
        <p:spPr/>
        <p:txBody>
          <a:bodyPr/>
          <a:lstStyle/>
          <a:p>
            <a:pPr lvl="0" indent="0" marL="0">
              <a:spcBef>
                <a:spcPts val="3000"/>
              </a:spcBef>
              <a:buNone/>
            </a:pPr>
            <a:r>
              <a:rPr b="1"/>
              <a:t>The Promise</a:t>
            </a:r>
          </a:p>
          <a:p>
            <a:pPr lvl="0"/>
            <a:r>
              <a:rPr b="1"/>
              <a:t>Accelerate</a:t>
            </a:r>
            <a:r>
              <a:rPr/>
              <a:t> the boring parts of research.</a:t>
            </a:r>
          </a:p>
          <a:p>
            <a:pPr lvl="0"/>
            <a:r>
              <a:rPr b="1"/>
              <a:t>Synthesize</a:t>
            </a:r>
            <a:r>
              <a:rPr/>
              <a:t> complex information in minutes.</a:t>
            </a:r>
          </a:p>
          <a:p>
            <a:pPr lvl="0"/>
            <a:r>
              <a:rPr b="1"/>
              <a:t>Structure</a:t>
            </a:r>
            <a:r>
              <a:rPr/>
              <a:t> your thoughts into a clear outline.</a:t>
            </a:r>
          </a:p>
          <a:p>
            <a:pPr lvl="0"/>
            <a:r>
              <a:rPr b="1"/>
              <a:t>Focus</a:t>
            </a:r>
            <a:r>
              <a:rPr/>
              <a:t> on the original, high-impact work only you can do.</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Generative AI?</a:t>
            </a:r>
          </a:p>
        </p:txBody>
      </p:sp>
      <p:sp>
        <p:nvSpPr>
          <p:cNvPr id="3" name="Content Placeholder 2"/>
          <p:cNvSpPr>
            <a:spLocks noGrp="1"/>
          </p:cNvSpPr>
          <p:nvPr>
            <p:ph idx="1"/>
          </p:nvPr>
        </p:nvSpPr>
        <p:spPr/>
        <p:txBody>
          <a:bodyPr/>
          <a:lstStyle/>
          <a:p>
            <a:pPr lvl="0" indent="0" marL="0">
              <a:buNone/>
            </a:pPr>
            <a:r>
              <a:rPr/>
              <a:t>A simple metaphor:</a:t>
            </a:r>
          </a:p>
          <a:p>
            <a:pPr lvl="0" indent="0" marL="1270000">
              <a:buNone/>
            </a:pPr>
            <a:r>
              <a:rPr sz="2000"/>
              <a:t>It’s </a:t>
            </a:r>
            <a:r>
              <a:rPr sz="2000" b="1"/>
              <a:t>autocomplete on steroids</a:t>
            </a:r>
            <a:r>
              <a:rPr sz="2000"/>
              <a:t>.</a:t>
            </a:r>
          </a:p>
          <a:p>
            <a:pPr lvl="0" indent="0" marL="0">
              <a:buNone/>
            </a:pPr>
            <a:r>
              <a:rPr/>
              <a:t>It predicts the next most likely word based on patterns in the massive amount of text it was trained on. It doesn’t </a:t>
            </a:r>
            <a:r>
              <a:rPr i="1"/>
              <a:t>understand</a:t>
            </a:r>
            <a:r>
              <a:rPr/>
              <a:t> things, but it’s incredibly good at mimicking structure, style, and language.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Our Workspace: OpenWebUI</a:t>
            </a:r>
          </a:p>
        </p:txBody>
      </p:sp>
      <p:sp>
        <p:nvSpPr>
          <p:cNvPr id="3" name="Content Placeholder 2"/>
          <p:cNvSpPr>
            <a:spLocks noGrp="1"/>
          </p:cNvSpPr>
          <p:nvPr>
            <p:ph idx="1"/>
          </p:nvPr>
        </p:nvSpPr>
        <p:spPr/>
        <p:txBody>
          <a:bodyPr/>
          <a:lstStyle/>
          <a:p>
            <a:pPr lvl="0" indent="0" marL="0">
              <a:buNone/>
            </a:pPr>
            <a:r>
              <a:rPr/>
              <a:t>A safe, private environment for our research experiments.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ssets/images/openwebui-interface.png" id="0" name="Picture 1"/>
          <p:cNvPicPr>
            <a:picLocks noGrp="1" noChangeAspect="1"/>
          </p:cNvPicPr>
          <p:nvPr/>
        </p:nvPicPr>
        <p:blipFill>
          <a:blip r:embed="rId3"/>
          <a:stretch>
            <a:fillRect/>
          </a:stretch>
        </p:blipFill>
        <p:spPr bwMode="auto">
          <a:xfrm>
            <a:off x="457200" y="2146300"/>
            <a:ext cx="4038600" cy="9652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A screenshot of the OpenWebUI interface, showing the chat window, model selector, and file upload area.</a:t>
            </a:r>
          </a:p>
        </p:txBody>
      </p:sp>
      <p:sp>
        <p:nvSpPr>
          <p:cNvPr id="4" name="Content Placeholder 3"/>
          <p:cNvSpPr>
            <a:spLocks noGrp="1"/>
          </p:cNvSpPr>
          <p:nvPr>
            <p:ph idx="2" sz="half"/>
          </p:nvPr>
        </p:nvSpPr>
        <p:spPr/>
        <p:txBody>
          <a:bodyPr/>
          <a:lstStyle/>
          <a:p>
            <a:pPr lvl="0" indent="0" marL="0">
              <a:buNone/>
            </a:pPr>
            <a:r>
              <a:rPr b="1"/>
              <a:t>Key Features:</a:t>
            </a:r>
          </a:p>
          <a:p>
            <a:pPr lvl="0" indent="-342900" marL="342900">
              <a:buAutoNum type="arabicPeriod"/>
            </a:pPr>
            <a:r>
              <a:rPr b="1"/>
              <a:t>Chat Interface:</a:t>
            </a:r>
            <a:r>
              <a:rPr/>
              <a:t> Where you write prompts.</a:t>
            </a:r>
          </a:p>
          <a:p>
            <a:pPr lvl="0" indent="-342900" marL="342900">
              <a:buAutoNum type="arabicPeriod"/>
            </a:pPr>
            <a:r>
              <a:rPr b="1"/>
              <a:t>Model Selector:</a:t>
            </a:r>
            <a:r>
              <a:rPr/>
              <a:t> Choose your AI ‘brain’.</a:t>
            </a:r>
          </a:p>
          <a:p>
            <a:pPr lvl="0" indent="-342900" marL="342900">
              <a:buAutoNum type="arabicPeriod"/>
            </a:pPr>
            <a:r>
              <a:rPr b="1"/>
              <a:t>File Upload:</a:t>
            </a:r>
            <a:r>
              <a:rPr/>
              <a:t> Give the AI context.</a:t>
            </a:r>
          </a:p>
          <a:p>
            <a:pPr lvl="0" indent="-342900" marL="342900">
              <a:buAutoNum type="arabicPeriod"/>
            </a:pPr>
            <a:r>
              <a:rPr b="1"/>
              <a:t>Chat History:</a:t>
            </a:r>
            <a:r>
              <a:rPr/>
              <a:t> Your conversations are saved.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Key Limitation: Hallucinations</a:t>
            </a:r>
          </a:p>
        </p:txBody>
      </p:sp>
      <p:sp>
        <p:nvSpPr>
          <p:cNvPr id="3" name="Content Placeholder 2"/>
          <p:cNvSpPr>
            <a:spLocks noGrp="1"/>
          </p:cNvSpPr>
          <p:nvPr>
            <p:ph idx="1"/>
          </p:nvPr>
        </p:nvSpPr>
        <p:spPr/>
        <p:txBody>
          <a:bodyPr/>
          <a:lstStyle/>
          <a:p>
            <a:pPr lvl="0" indent="0" marL="0">
              <a:buNone/>
            </a:pPr>
            <a:r>
              <a:rPr/>
              <a:t>AI models can </a:t>
            </a:r>
            <a:r>
              <a:rPr b="1"/>
              <a:t>confidently invent facts, citations, or data</a:t>
            </a:r>
            <a:r>
              <a:rPr/>
              <a:t>. They ‘hallucinate’.</a:t>
            </a:r>
          </a:p>
          <a:p>
            <a:pPr lvl="0" indent="0" marL="1270000">
              <a:buNone/>
            </a:pPr>
            <a:r>
              <a:rPr sz="2000" b="1"/>
              <a:t>Example:</a:t>
            </a:r>
            <a:r>
              <a:rPr sz="2000"/>
              <a:t> An AI might recommend eating one small rock per day for vitamin intake, citing a non-existent medical journal.</a:t>
            </a:r>
          </a:p>
          <a:p>
            <a:pPr lvl="0" indent="0" marL="0">
              <a:buNone/>
            </a:pPr>
            <a:r>
              <a:rPr b="1"/>
              <a:t>Rule #1 of AI:</a:t>
            </a:r>
            <a:r>
              <a:rPr/>
              <a:t> </a:t>
            </a:r>
            <a:r>
              <a:rPr b="1"/>
              <a:t>ALWAYS VERIFY.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Your First Prompt</a:t>
            </a:r>
          </a:p>
        </p:txBody>
      </p:sp>
      <p:sp>
        <p:nvSpPr>
          <p:cNvPr id="3" name="Content Placeholder 2"/>
          <p:cNvSpPr>
            <a:spLocks noGrp="1"/>
          </p:cNvSpPr>
          <p:nvPr>
            <p:ph idx="1"/>
          </p:nvPr>
        </p:nvSpPr>
        <p:spPr/>
        <p:txBody>
          <a:bodyPr/>
          <a:lstStyle/>
          <a:p>
            <a:pPr lvl="0" indent="0" marL="0">
              <a:buNone/>
            </a:pPr>
            <a:r>
              <a:rPr/>
              <a:t>Let’s try a simple, safe task.</a:t>
            </a:r>
          </a:p>
          <a:p>
            <a:pPr lvl="0" indent="-342900" marL="342900">
              <a:buAutoNum type="arabicPeriod"/>
            </a:pPr>
            <a:r>
              <a:rPr/>
              <a:t>Go to the OpenWebUI chat window.</a:t>
            </a:r>
          </a:p>
          <a:p>
            <a:pPr lvl="0" indent="-342900" marL="342900">
              <a:buAutoNum type="arabicPeriod"/>
            </a:pPr>
            <a:r>
              <a:rPr/>
              <a:t>Select a model from the dropdown.</a:t>
            </a:r>
          </a:p>
          <a:p>
            <a:pPr lvl="0" indent="-342900" marL="342900">
              <a:buAutoNum type="arabicPeriod"/>
            </a:pPr>
            <a:r>
              <a:rPr/>
              <a:t>Type the following prompt and press Enter:</a:t>
            </a:r>
          </a:p>
          <a:p>
            <a:pPr lvl="0" indent="0">
              <a:buNone/>
            </a:pPr>
            <a:r>
              <a:rPr>
                <a:latin typeface="Courier"/>
              </a:rPr>
              <a:t>Summarize the key challenges in supply chain finance in three bullet points.</a:t>
            </a:r>
          </a:p>
          <a:p>
            <a:pPr lvl="0" indent="-342900" marL="342900">
              <a:buAutoNum startAt="4" type="arabicPeriod"/>
            </a:pPr>
            <a:r>
              <a:rPr/>
              <a:t>Read the response. Does it seem plausible?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2: Prompting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 . .</a:t>
            </a:r>
          </a:p>
          <a:p>
            <a:pPr lvl="0" indent="0" marL="0">
              <a:buNone/>
            </a:pPr>
            <a:r>
              <a:rPr/>
              <a:t>By the end of this module, you will be able to:</a:t>
            </a:r>
          </a:p>
          <a:p>
            <a:pPr lvl="0"/>
            <a:r>
              <a:rPr b="1"/>
              <a:t>Differentiate</a:t>
            </a:r>
            <a:r>
              <a:rPr/>
              <a:t> between a poor prompt and an effective one.</a:t>
            </a:r>
          </a:p>
          <a:p>
            <a:pPr lvl="0"/>
            <a:r>
              <a:rPr b="1"/>
              <a:t>Apply</a:t>
            </a:r>
            <a:r>
              <a:rPr/>
              <a:t> the CARE method (Context, Ask, Rules, Examples) to structure your prompts.</a:t>
            </a:r>
          </a:p>
          <a:p>
            <a:pPr lvl="0"/>
            <a:r>
              <a:rPr b="1"/>
              <a:t>Use</a:t>
            </a:r>
            <a:r>
              <a:rPr/>
              <a:t> AI for four core research tasks: Summarization, Exploration, Structuring, and Drafting.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Bad… to Better</a:t>
            </a:r>
          </a:p>
        </p:txBody>
      </p:sp>
      <p:sp>
        <p:nvSpPr>
          <p:cNvPr id="3" name="Content Placeholder 2"/>
          <p:cNvSpPr>
            <a:spLocks noGrp="1"/>
          </p:cNvSpPr>
          <p:nvPr>
            <p:ph idx="1"/>
          </p:nvPr>
        </p:nvSpPr>
        <p:spPr/>
        <p:txBody>
          <a:bodyPr/>
          <a:lstStyle/>
          <a:p>
            <a:pPr lvl="0" indent="0" marL="0">
              <a:buNone/>
            </a:pPr>
            <a:r>
              <a:rPr/>
              <a:t>Imagine your AI assistant is </a:t>
            </a:r>
            <a:r>
              <a:rPr b="1"/>
              <a:t>LogiBot</a:t>
            </a:r>
            <a:r>
              <a:rPr/>
              <a:t>, and it’s gone rogue, giving terrible advice.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The Bad Prompt</a:t>
            </a:r>
          </a:p>
          <a:p>
            <a:pPr lvl="0" indent="0" marL="0">
              <a:buNone/>
            </a:pPr>
            <a:r>
              <a:rPr>
                <a:latin typeface="Courier"/>
              </a:rPr>
              <a:t>"Fix the supply chain."</a:t>
            </a:r>
          </a:p>
          <a:p>
            <a:pPr lvl="0" indent="0" marL="0">
              <a:buNone/>
            </a:pPr>
            <a:r>
              <a:rPr b="1"/>
              <a:t>LogiBot’s Bad Answer:</a:t>
            </a:r>
            <a:r>
              <a:rPr/>
              <a:t> </a:t>
            </a:r>
            <a:r>
              <a:rPr i="1"/>
              <a:t>“Just ship everything by drone tomorrow. If that fails, tell customers to switch to tea instead.”</a:t>
            </a:r>
          </a:p>
          <a:p>
            <a:pPr lvl="0" indent="0" marL="0">
              <a:buNone/>
            </a:pPr>
            <a:r>
              <a:rPr/>
              <a:t>(Unrealistic, ignores the actual problem)</a:t>
            </a:r>
          </a:p>
        </p:txBody>
      </p:sp>
      <p:sp>
        <p:nvSpPr>
          <p:cNvPr id="4" name="Content Placeholder 3"/>
          <p:cNvSpPr>
            <a:spLocks noGrp="1"/>
          </p:cNvSpPr>
          <p:nvPr>
            <p:ph idx="2" sz="half"/>
          </p:nvPr>
        </p:nvSpPr>
        <p:spPr/>
        <p:txBody>
          <a:bodyPr/>
          <a:lstStyle/>
          <a:p>
            <a:pPr lvl="0" indent="0" marL="0">
              <a:spcBef>
                <a:spcPts val="3000"/>
              </a:spcBef>
              <a:buNone/>
            </a:pPr>
            <a:r>
              <a:rPr b="1"/>
              <a:t>The Better Prompt</a:t>
            </a:r>
          </a:p>
          <a:p>
            <a:pPr lvl="0" indent="0" marL="0">
              <a:buNone/>
            </a:pPr>
            <a:r>
              <a:rPr>
                <a:latin typeface="Courier"/>
              </a:rPr>
              <a:t>"Given a port strike in Europe, what alternative transport routes could maintain supply to Asia? List three options with pros and cons for each."</a:t>
            </a:r>
          </a:p>
          <a:p>
            <a:pPr lvl="0" indent="0" marL="0">
              <a:buNone/>
            </a:pPr>
            <a:r>
              <a:rPr b="1"/>
              <a:t>A Better Answer:</a:t>
            </a:r>
            <a:r>
              <a:rPr/>
              <a:t> </a:t>
            </a:r>
            <a:r>
              <a:rPr i="1"/>
              <a:t>1. Air Freight: Fast, but expensive…</a:t>
            </a:r>
            <a:r>
              <a:rPr/>
              <a:t> </a:t>
            </a:r>
            <a:r>
              <a:rPr i="1"/>
              <a:t>2. Rail via land bridge: Cheaper than air, but slower…</a:t>
            </a:r>
            <a:r>
              <a:rPr/>
              <a:t> </a:t>
            </a:r>
            <a:r>
              <a:rPr i="1"/>
              <a:t>3. Sea route around Africa: Avoids the strike, but adds weeks to shipping time…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CARE Prompting Method</a:t>
            </a:r>
          </a:p>
        </p:txBody>
      </p:sp>
      <p:sp>
        <p:nvSpPr>
          <p:cNvPr id="3" name="Content Placeholder 2"/>
          <p:cNvSpPr>
            <a:spLocks noGrp="1"/>
          </p:cNvSpPr>
          <p:nvPr>
            <p:ph idx="1"/>
          </p:nvPr>
        </p:nvSpPr>
        <p:spPr/>
        <p:txBody>
          <a:bodyPr/>
          <a:lstStyle/>
          <a:p>
            <a:pPr lvl="0" indent="0" marL="0">
              <a:buNone/>
            </a:pPr>
            <a:r>
              <a:rPr/>
              <a:t>The best prompts give the AI everything it needs to succeed. Just remember to </a:t>
            </a:r>
            <a:r>
              <a:rPr b="1"/>
              <a:t>CARE</a:t>
            </a:r>
            <a:r>
              <a:rPr/>
              <a:t>.</a:t>
            </a:r>
          </a:p>
          <a:p>
            <a:pPr lvl="0"/>
            <a:r>
              <a:rPr b="1"/>
              <a:t>C</a:t>
            </a:r>
            <a:r>
              <a:rPr/>
              <a:t>ontext: The background information. What does the AI need to know?</a:t>
            </a:r>
          </a:p>
          <a:p>
            <a:pPr lvl="0"/>
            <a:r>
              <a:rPr b="1"/>
              <a:t>A</a:t>
            </a:r>
            <a:r>
              <a:rPr/>
              <a:t>sk: The specific task. What do you want it to do?</a:t>
            </a:r>
          </a:p>
          <a:p>
            <a:pPr lvl="0"/>
            <a:r>
              <a:rPr b="1"/>
              <a:t>R</a:t>
            </a:r>
            <a:r>
              <a:rPr/>
              <a:t>ules: The constraints. What format, length, or style should it follow?</a:t>
            </a:r>
          </a:p>
          <a:p>
            <a:pPr lvl="0"/>
            <a:r>
              <a:rPr b="1"/>
              <a:t>E</a:t>
            </a:r>
            <a:r>
              <a:rPr/>
              <a:t>xamples: The desired output. Show it what a good answer looks like.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 Applying CARE</a:t>
            </a:r>
          </a:p>
        </p:txBody>
      </p:sp>
      <p:sp>
        <p:nvSpPr>
          <p:cNvPr id="3" name="Content Placeholder 2"/>
          <p:cNvSpPr>
            <a:spLocks noGrp="1"/>
          </p:cNvSpPr>
          <p:nvPr>
            <p:ph idx="1"/>
          </p:nvPr>
        </p:nvSpPr>
        <p:spPr/>
        <p:txBody>
          <a:bodyPr/>
          <a:lstStyle/>
          <a:p>
            <a:pPr lvl="0" indent="0" marL="0">
              <a:buNone/>
            </a:pPr>
            <a:r>
              <a:rPr/>
              <a:t>Let’s build a prompt together.</a:t>
            </a:r>
          </a:p>
          <a:p>
            <a:pPr lvl="0" indent="0" marL="0">
              <a:buNone/>
            </a:pPr>
            <a:r>
              <a:rPr b="1"/>
              <a:t>Goal:</a:t>
            </a:r>
            <a:r>
              <a:rPr/>
              <a:t> Get a summary of a research paper’s abstract.</a:t>
            </a:r>
          </a:p>
          <a:p>
            <a:pPr lvl="0"/>
            <a:r>
              <a:rPr b="1"/>
              <a:t>C</a:t>
            </a:r>
            <a:r>
              <a:rPr/>
              <a:t>ontext: “You are a research assistant. The following text is a research abstract.”</a:t>
            </a:r>
          </a:p>
          <a:p>
            <a:pPr lvl="0"/>
            <a:r>
              <a:rPr b="1"/>
              <a:t>A</a:t>
            </a:r>
            <a:r>
              <a:rPr/>
              <a:t>sk: “Summarize this abstract.”</a:t>
            </a:r>
          </a:p>
          <a:p>
            <a:pPr lvl="0"/>
            <a:r>
              <a:rPr b="1"/>
              <a:t>R</a:t>
            </a:r>
            <a:r>
              <a:rPr/>
              <a:t>ules: “The summary must be under 150 words and include the main objective, method, and key finding.”</a:t>
            </a:r>
          </a:p>
          <a:p>
            <a:pPr lvl="0"/>
            <a:r>
              <a:rPr b="1"/>
              <a:t>E</a:t>
            </a:r>
            <a:r>
              <a:rPr/>
              <a:t>xample: (Optional for this task, as it’s straightforward)</a:t>
            </a:r>
          </a:p>
          <a:p>
            <a:pPr lvl="0" indent="0" marL="0">
              <a:buNone/>
            </a:pPr>
            <a:r>
              <a:rPr b="1"/>
              <a:t>Final Prompt:</a:t>
            </a:r>
            <a:r>
              <a:rPr/>
              <a:t> </a:t>
            </a:r>
            <a:r>
              <a:rPr>
                <a:latin typeface="Courier"/>
              </a:rPr>
              <a:t>You are a research assistant. Summarize the following abstract in under 150 words. The summary must include the main objective, the method, and the key finding.</a:t>
            </a:r>
            <a:r>
              <a:rPr/>
              <a:t> </a:t>
            </a:r>
            <a:r>
              <a:rPr>
                <a:latin typeface="Courier"/>
              </a:rPr>
              <a:t>[Paste abstract here]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TASK 1: Summarization</a:t>
            </a:r>
          </a:p>
        </p:txBody>
      </p:sp>
      <p:sp>
        <p:nvSpPr>
          <p:cNvPr id="3" name="Content Placeholder 2"/>
          <p:cNvSpPr>
            <a:spLocks noGrp="1"/>
          </p:cNvSpPr>
          <p:nvPr>
            <p:ph idx="1"/>
          </p:nvPr>
        </p:nvSpPr>
        <p:spPr/>
        <p:txBody>
          <a:bodyPr/>
          <a:lstStyle/>
          <a:p>
            <a:pPr lvl="0" indent="0" marL="0">
              <a:buNone/>
            </a:pPr>
            <a:r>
              <a:rPr b="1"/>
              <a:t>Goal:</a:t>
            </a:r>
            <a:r>
              <a:rPr/>
              <a:t> Create a clear, concise summary of a research abstract.</a:t>
            </a:r>
          </a:p>
          <a:p>
            <a:pPr lvl="0" indent="-342900" marL="342900">
              <a:buAutoNum type="arabicPeriod"/>
            </a:pPr>
            <a:r>
              <a:rPr b="1"/>
              <a:t>Find</a:t>
            </a:r>
            <a:r>
              <a:rPr/>
              <a:t> a research abstract in your field.</a:t>
            </a:r>
          </a:p>
          <a:p>
            <a:pPr lvl="0" indent="-342900" marL="342900">
              <a:buAutoNum type="arabicPeriod"/>
            </a:pPr>
            <a:r>
              <a:rPr b="1"/>
              <a:t>Upload</a:t>
            </a:r>
            <a:r>
              <a:rPr/>
              <a:t> it or paste it into OpenWebUI.</a:t>
            </a:r>
          </a:p>
          <a:p>
            <a:pPr lvl="0" indent="-342900" marL="342900">
              <a:buAutoNum type="arabicPeriod"/>
            </a:pPr>
            <a:r>
              <a:rPr b="1"/>
              <a:t>Use</a:t>
            </a:r>
            <a:r>
              <a:rPr/>
              <a:t> a CARE prompt to ask for a summary.</a:t>
            </a:r>
          </a:p>
          <a:p>
            <a:pPr lvl="1"/>
            <a:r>
              <a:rPr b="1"/>
              <a:t>Context:</a:t>
            </a:r>
            <a:r>
              <a:rPr/>
              <a:t> “You are a research assistant…”</a:t>
            </a:r>
          </a:p>
          <a:p>
            <a:pPr lvl="1"/>
            <a:r>
              <a:rPr b="1"/>
              <a:t>Ask:</a:t>
            </a:r>
            <a:r>
              <a:rPr/>
              <a:t> “Summarize this…”</a:t>
            </a:r>
          </a:p>
          <a:p>
            <a:pPr lvl="1"/>
            <a:r>
              <a:rPr b="1"/>
              <a:t>Rules:</a:t>
            </a:r>
            <a:r>
              <a:rPr/>
              <a:t> “…in 150 words, capturing the main question, method, and findings.”</a:t>
            </a:r>
          </a:p>
          <a:p>
            <a:pPr lvl="0" indent="-342900" marL="342900">
              <a:buAutoNum type="arabicPeriod"/>
            </a:pPr>
            <a:r>
              <a:rPr b="1"/>
              <a:t>Review</a:t>
            </a:r>
            <a:r>
              <a:rPr/>
              <a:t> the result. How did it do?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TASK 2: Exploration</a:t>
            </a:r>
          </a:p>
        </p:txBody>
      </p:sp>
      <p:sp>
        <p:nvSpPr>
          <p:cNvPr id="3" name="Content Placeholder 2"/>
          <p:cNvSpPr>
            <a:spLocks noGrp="1"/>
          </p:cNvSpPr>
          <p:nvPr>
            <p:ph idx="1"/>
          </p:nvPr>
        </p:nvSpPr>
        <p:spPr/>
        <p:txBody>
          <a:bodyPr/>
          <a:lstStyle/>
          <a:p>
            <a:pPr lvl="0" indent="0" marL="0">
              <a:buNone/>
            </a:pPr>
            <a:r>
              <a:rPr b="1"/>
              <a:t>Goal:</a:t>
            </a:r>
            <a:r>
              <a:rPr/>
              <a:t> Ask deeper questions about a research document.</a:t>
            </a:r>
          </a:p>
          <a:p>
            <a:pPr lvl="0" indent="-342900" marL="342900">
              <a:buAutoNum type="arabicPeriod"/>
            </a:pPr>
            <a:r>
              <a:rPr b="1"/>
              <a:t>Upload</a:t>
            </a:r>
            <a:r>
              <a:rPr/>
              <a:t> a full paper or report you are familiar with.</a:t>
            </a:r>
          </a:p>
          <a:p>
            <a:pPr lvl="0" indent="-342900" marL="342900">
              <a:buAutoNum type="arabicPeriod"/>
            </a:pPr>
            <a:r>
              <a:rPr b="1"/>
              <a:t>Ask</a:t>
            </a:r>
            <a:r>
              <a:rPr/>
              <a:t> targeted questions using CARE prompts:</a:t>
            </a:r>
          </a:p>
          <a:p>
            <a:pPr lvl="1"/>
            <a:r>
              <a:rPr i="1"/>
              <a:t>“What is the main research question and why does it matter, according to the introduction?”</a:t>
            </a:r>
          </a:p>
          <a:p>
            <a:pPr lvl="1"/>
            <a:r>
              <a:rPr i="1"/>
              <a:t>“List the datasets and methods used, as described in the methodology section.”</a:t>
            </a:r>
          </a:p>
          <a:p>
            <a:pPr lvl="1"/>
            <a:r>
              <a:rPr i="1"/>
              <a:t>“Extract the three key findings from the results section, with supporting quotes.”</a:t>
            </a:r>
          </a:p>
          <a:p>
            <a:pPr lvl="0" indent="-342900" marL="342900">
              <a:buAutoNum type="arabicPeriod"/>
            </a:pPr>
            <a:r>
              <a:rPr b="1"/>
              <a:t>Verify</a:t>
            </a:r>
            <a:r>
              <a:rPr/>
              <a:t> the AI’s answers against the source document.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TASK 3: Structuring Notes</a:t>
            </a:r>
          </a:p>
        </p:txBody>
      </p:sp>
      <p:sp>
        <p:nvSpPr>
          <p:cNvPr id="3" name="Content Placeholder 2"/>
          <p:cNvSpPr>
            <a:spLocks noGrp="1"/>
          </p:cNvSpPr>
          <p:nvPr>
            <p:ph idx="1"/>
          </p:nvPr>
        </p:nvSpPr>
        <p:spPr/>
        <p:txBody>
          <a:bodyPr/>
          <a:lstStyle/>
          <a:p>
            <a:pPr lvl="0" indent="0" marL="0">
              <a:buNone/>
            </a:pPr>
            <a:r>
              <a:rPr b="1"/>
              <a:t>Goal:</a:t>
            </a:r>
            <a:r>
              <a:rPr/>
              <a:t> Turn unstructured text into a clean, reusable table.</a:t>
            </a:r>
          </a:p>
          <a:p>
            <a:pPr lvl="0" indent="-342900" marL="342900">
              <a:buAutoNum type="arabicPeriod"/>
            </a:pPr>
            <a:r>
              <a:rPr b="1"/>
              <a:t>Upload</a:t>
            </a:r>
            <a:r>
              <a:rPr/>
              <a:t> a chunk of text from your notes or a paper.</a:t>
            </a:r>
          </a:p>
          <a:p>
            <a:pPr lvl="0" indent="-342900" marL="342900">
              <a:buAutoNum type="arabicPeriod"/>
            </a:pPr>
            <a:r>
              <a:rPr b="1"/>
              <a:t>Ask</a:t>
            </a:r>
            <a:r>
              <a:rPr/>
              <a:t> OpenWebUI to structure it.</a:t>
            </a:r>
          </a:p>
          <a:p>
            <a:pPr lvl="0" indent="0" marL="0">
              <a:buNone/>
            </a:pPr>
            <a:r>
              <a:rPr b="1"/>
              <a:t>Prompt:</a:t>
            </a:r>
            <a:r>
              <a:rPr/>
              <a:t> </a:t>
            </a:r>
            <a:r>
              <a:rPr>
                <a:latin typeface="Courier"/>
              </a:rPr>
              <a:t>Organize the key concepts from the following text into a Markdown table with three columns: "Concept", "Definition", and "Example from Text".</a:t>
            </a:r>
            <a:r>
              <a:rPr/>
              <a:t> </a:t>
            </a:r>
            <a:r>
              <a:rPr>
                <a:latin typeface="Courier"/>
              </a:rPr>
              <a:t>[Paste text here]</a:t>
            </a:r>
          </a:p>
          <a:p>
            <a:pPr lvl="0" indent="-342900" marL="342900">
              <a:buAutoNum startAt="3" type="arabicPeriod"/>
            </a:pPr>
            <a:r>
              <a:rPr b="1"/>
              <a:t>Review</a:t>
            </a:r>
            <a:r>
              <a:rPr/>
              <a:t> the table. Is it accurate? Can you copy and paste it into your own work?</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TASK 4: Drafting</a:t>
            </a:r>
          </a:p>
        </p:txBody>
      </p:sp>
      <p:sp>
        <p:nvSpPr>
          <p:cNvPr id="3" name="Content Placeholder 2"/>
          <p:cNvSpPr>
            <a:spLocks noGrp="1"/>
          </p:cNvSpPr>
          <p:nvPr>
            <p:ph idx="1"/>
          </p:nvPr>
        </p:nvSpPr>
        <p:spPr/>
        <p:txBody>
          <a:bodyPr/>
          <a:lstStyle/>
          <a:p>
            <a:pPr lvl="0" indent="0" marL="0">
              <a:buNone/>
            </a:pPr>
            <a:r>
              <a:rPr b="1"/>
              <a:t>Goal:</a:t>
            </a:r>
            <a:r>
              <a:rPr/>
              <a:t> Use AI to create a </a:t>
            </a:r>
            <a:r>
              <a:rPr i="1"/>
              <a:t>first draft</a:t>
            </a:r>
            <a:r>
              <a:rPr/>
              <a:t> of a section, based on evidence.</a:t>
            </a:r>
          </a:p>
          <a:p>
            <a:pPr lvl="0" indent="-342900" marL="342900">
              <a:buAutoNum type="arabicPeriod"/>
            </a:pPr>
            <a:r>
              <a:rPr b="1"/>
              <a:t>Upload</a:t>
            </a:r>
            <a:r>
              <a:rPr/>
              <a:t> a paper or your structured notes from the previous task.</a:t>
            </a:r>
          </a:p>
          <a:p>
            <a:pPr lvl="0" indent="-342900" marL="342900">
              <a:buAutoNum type="arabicPeriod"/>
            </a:pPr>
            <a:r>
              <a:rPr b="1"/>
              <a:t>Ask</a:t>
            </a:r>
            <a:r>
              <a:rPr/>
              <a:t> the AI to draft a short section.</a:t>
            </a:r>
          </a:p>
          <a:p>
            <a:pPr lvl="0" indent="0" marL="0">
              <a:buNone/>
            </a:pPr>
            <a:r>
              <a:rPr b="1"/>
              <a:t>Prompt:</a:t>
            </a:r>
            <a:r>
              <a:rPr/>
              <a:t> </a:t>
            </a:r>
            <a:r>
              <a:rPr>
                <a:latin typeface="Courier"/>
              </a:rPr>
              <a:t>Using ONLY the information provided in the uploaded document, draft a 200-word "Background" section for a research paper. It should introduce the topic, state the main problem, and lead into the research question. Use placeholders like [Author, Year] for citations.</a:t>
            </a:r>
          </a:p>
          <a:p>
            <a:pPr lvl="0" indent="-342900" marL="342900">
              <a:buAutoNum startAt="3" type="arabicPeriod"/>
            </a:pPr>
            <a:r>
              <a:rPr b="1"/>
              <a:t>Review</a:t>
            </a:r>
            <a:r>
              <a:rPr/>
              <a:t> the draft. Does it stick to the source material?</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3: The Bigger Picture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 . .</a:t>
            </a:r>
          </a:p>
          <a:p>
            <a:pPr lvl="0" indent="0" marL="0">
              <a:buNone/>
            </a:pPr>
            <a:r>
              <a:rPr/>
              <a:t>By the end of this module, you will be able to:</a:t>
            </a:r>
          </a:p>
          <a:p>
            <a:pPr lvl="0"/>
            <a:r>
              <a:rPr b="1"/>
              <a:t>Identify</a:t>
            </a:r>
            <a:r>
              <a:rPr/>
              <a:t> real-world applications for AI in research.</a:t>
            </a:r>
          </a:p>
          <a:p>
            <a:pPr lvl="0"/>
            <a:r>
              <a:rPr b="1"/>
              <a:t>Recognize</a:t>
            </a:r>
            <a:r>
              <a:rPr/>
              <a:t> the impact of AI in fields like supply chain management.</a:t>
            </a:r>
          </a:p>
          <a:p>
            <a:pPr lvl="0"/>
            <a:r>
              <a:rPr b="1"/>
              <a:t>Discuss</a:t>
            </a:r>
            <a:r>
              <a:rPr/>
              <a:t> the ethical implications of AI, including bias and privacy.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Real-World Use Cases</a:t>
            </a:r>
          </a:p>
        </p:txBody>
      </p:sp>
      <p:sp>
        <p:nvSpPr>
          <p:cNvPr id="3" name="Content Placeholder 2"/>
          <p:cNvSpPr>
            <a:spLocks noGrp="1"/>
          </p:cNvSpPr>
          <p:nvPr>
            <p:ph idx="1"/>
          </p:nvPr>
        </p:nvSpPr>
        <p:spPr/>
        <p:txBody>
          <a:bodyPr/>
          <a:lstStyle/>
          <a:p>
            <a:pPr lvl="0" indent="0" marL="0">
              <a:buNone/>
            </a:pPr>
            <a:r>
              <a:rPr/>
              <a:t>How can AI support the research lifecycle?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 Literature Review</a:t>
            </a:r>
          </a:p>
          <a:p>
            <a:pPr lvl="0"/>
            <a:r>
              <a:rPr b="1"/>
              <a:t>Summarize</a:t>
            </a:r>
            <a:r>
              <a:rPr/>
              <a:t> papers quickly.</a:t>
            </a:r>
          </a:p>
          <a:p>
            <a:pPr lvl="0"/>
            <a:r>
              <a:rPr b="1"/>
              <a:t>Compare</a:t>
            </a:r>
            <a:r>
              <a:rPr/>
              <a:t> methods across studies.</a:t>
            </a:r>
          </a:p>
          <a:p>
            <a:pPr lvl="0"/>
            <a:r>
              <a:rPr b="1"/>
              <a:t>Organize</a:t>
            </a:r>
            <a:r>
              <a:rPr/>
              <a:t> findings into themes.</a:t>
            </a:r>
          </a:p>
        </p:txBody>
      </p:sp>
      <p:sp>
        <p:nvSpPr>
          <p:cNvPr id="4" name="Content Placeholder 3"/>
          <p:cNvSpPr>
            <a:spLocks noGrp="1"/>
          </p:cNvSpPr>
          <p:nvPr>
            <p:ph idx="2" sz="half"/>
          </p:nvPr>
        </p:nvSpPr>
        <p:spPr/>
        <p:txBody>
          <a:bodyPr/>
          <a:lstStyle/>
          <a:p>
            <a:pPr lvl="0" indent="0" marL="0">
              <a:spcBef>
                <a:spcPts val="3000"/>
              </a:spcBef>
              <a:buNone/>
            </a:pPr>
            <a:r>
              <a:rPr b="1"/>
              <a:t>📊 Data Support</a:t>
            </a:r>
          </a:p>
          <a:p>
            <a:pPr lvl="0"/>
            <a:r>
              <a:rPr b="1"/>
              <a:t>Explain</a:t>
            </a:r>
            <a:r>
              <a:rPr/>
              <a:t> complex methods in plain language.</a:t>
            </a:r>
          </a:p>
          <a:p>
            <a:pPr lvl="0"/>
            <a:r>
              <a:rPr b="1"/>
              <a:t>Suggest</a:t>
            </a:r>
            <a:r>
              <a:rPr/>
              <a:t> visualizations for your data.</a:t>
            </a:r>
          </a:p>
          <a:p>
            <a:pPr lvl="0"/>
            <a:r>
              <a:rPr b="1"/>
              <a:t>Document</a:t>
            </a:r>
            <a:r>
              <a:rPr/>
              <a:t> your analysis steps.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AI in Supply Chains</a:t>
            </a:r>
          </a:p>
        </p:txBody>
      </p:sp>
      <p:sp>
        <p:nvSpPr>
          <p:cNvPr id="3" name="Content Placeholder 2"/>
          <p:cNvSpPr>
            <a:spLocks noGrp="1"/>
          </p:cNvSpPr>
          <p:nvPr>
            <p:ph idx="1"/>
          </p:nvPr>
        </p:nvSpPr>
        <p:spPr/>
        <p:txBody>
          <a:bodyPr/>
          <a:lstStyle/>
          <a:p>
            <a:pPr lvl="0" indent="0" marL="0">
              <a:buNone/>
            </a:pPr>
            <a:r>
              <a:rPr/>
              <a:t>AI isn’t just academic. It’s transforming industries.</a:t>
            </a:r>
          </a:p>
          <a:p>
            <a:pPr lvl="0"/>
            <a:r>
              <a:rPr b="1"/>
              <a:t>Amazon</a:t>
            </a:r>
            <a:r>
              <a:rPr/>
              <a:t> uses AI to forecast demand for 400M+ products.</a:t>
            </a:r>
          </a:p>
          <a:p>
            <a:pPr lvl="0"/>
            <a:r>
              <a:rPr b="1"/>
              <a:t>DHL</a:t>
            </a:r>
            <a:r>
              <a:rPr/>
              <a:t> uses AI to predict shipping delays and reroute freight.</a:t>
            </a:r>
          </a:p>
          <a:p>
            <a:pPr lvl="0"/>
            <a:r>
              <a:rPr b="1"/>
              <a:t>Maersk</a:t>
            </a:r>
            <a:r>
              <a:rPr/>
              <a:t> uses AI to reduce vessel downtime and cut CO₂ emissions.</a:t>
            </a:r>
          </a:p>
          <a:p>
            <a:pPr lvl="0" indent="0" marL="0">
              <a:buNone/>
            </a:pPr>
            <a:r>
              <a:rPr/>
              <a:t>This shows the power of using data and predictive models to make better, faster decisions.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Key Limitation: Bias</a:t>
            </a:r>
          </a:p>
        </p:txBody>
      </p:sp>
      <p:sp>
        <p:nvSpPr>
          <p:cNvPr id="3" name="Content Placeholder 2"/>
          <p:cNvSpPr>
            <a:spLocks noGrp="1"/>
          </p:cNvSpPr>
          <p:nvPr>
            <p:ph idx="1"/>
          </p:nvPr>
        </p:nvSpPr>
        <p:spPr/>
        <p:txBody>
          <a:bodyPr/>
          <a:lstStyle/>
          <a:p>
            <a:pPr lvl="0" indent="0" marL="0">
              <a:buNone/>
            </a:pPr>
            <a:r>
              <a:rPr/>
              <a:t>AI models are trained on human-generated text, so they inherit our biases.</a:t>
            </a:r>
          </a:p>
          <a:p>
            <a:pPr lvl="0" indent="0" marL="1270000">
              <a:buNone/>
            </a:pPr>
            <a:r>
              <a:rPr sz="2000"/>
              <a:t>If historical data shows that managers are predominantly male, an AI might be more likely to use male pronouns when discussing “a manager.”</a:t>
            </a:r>
          </a:p>
          <a:p>
            <a:pPr lvl="0" indent="0" marL="0">
              <a:buNone/>
            </a:pPr>
            <a:r>
              <a:rPr b="1"/>
              <a:t>Rule #2 of AI:</a:t>
            </a:r>
            <a:r>
              <a:rPr/>
              <a:t> </a:t>
            </a:r>
            <a:r>
              <a:rPr b="1"/>
              <a:t>ALWAYS question the output for hidden assumptions.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Ethics &amp; Privacy</a:t>
            </a:r>
          </a:p>
        </p:txBody>
      </p:sp>
      <p:sp>
        <p:nvSpPr>
          <p:cNvPr id="3" name="Content Placeholder 2"/>
          <p:cNvSpPr>
            <a:spLocks noGrp="1"/>
          </p:cNvSpPr>
          <p:nvPr>
            <p:ph idx="1"/>
          </p:nvPr>
        </p:nvSpPr>
        <p:spPr/>
        <p:txBody>
          <a:bodyPr/>
          <a:lstStyle/>
          <a:p>
            <a:pPr lvl="0"/>
            <a:r>
              <a:rPr/>
              <a:t>🔒 </a:t>
            </a:r>
            <a:r>
              <a:rPr b="1"/>
              <a:t>Confidentiality:</a:t>
            </a:r>
            <a:r>
              <a:rPr/>
              <a:t> Should you upload unpublished data to a public AI? (Hint: No.)</a:t>
            </a:r>
          </a:p>
          <a:p>
            <a:pPr lvl="0"/>
            <a:r>
              <a:rPr/>
              <a:t>⚖️ </a:t>
            </a:r>
            <a:r>
              <a:rPr b="1"/>
              <a:t>Authorship:</a:t>
            </a:r>
            <a:r>
              <a:rPr/>
              <a:t> When does using AI cross the line from ‘assistance’ to ‘plagiarism’?</a:t>
            </a:r>
          </a:p>
          <a:p>
            <a:pPr lvl="0"/>
            <a:r>
              <a:rPr/>
              <a:t>🛡️ </a:t>
            </a:r>
            <a:r>
              <a:rPr b="1"/>
              <a:t>Accountability:</a:t>
            </a:r>
            <a:r>
              <a:rPr/>
              <a:t> If an AI makes a mistake in your research, who is responsible?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4: Your Journey</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 . .</a:t>
            </a:r>
          </a:p>
          <a:p>
            <a:pPr lvl="0" indent="0" marL="0">
              <a:buNone/>
            </a:pPr>
            <a:r>
              <a:rPr/>
              <a:t>By the end of this module, you will be able to:</a:t>
            </a:r>
          </a:p>
          <a:p>
            <a:pPr lvl="0"/>
            <a:r>
              <a:rPr b="1"/>
              <a:t>Connect</a:t>
            </a:r>
            <a:r>
              <a:rPr/>
              <a:t> your new AI skills to a structured research process.</a:t>
            </a:r>
          </a:p>
          <a:p>
            <a:pPr lvl="0"/>
            <a:r>
              <a:rPr b="1"/>
              <a:t>Recap</a:t>
            </a:r>
            <a:r>
              <a:rPr/>
              <a:t> the key takeaways from this workshop.</a:t>
            </a:r>
          </a:p>
          <a:p>
            <a:pPr lvl="0"/>
            <a:r>
              <a:rPr b="1"/>
              <a:t>Formulate</a:t>
            </a:r>
            <a:r>
              <a:rPr/>
              <a:t> a plan for your next steps in using AI responsibly.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VCH Research Journey</a:t>
            </a:r>
          </a:p>
        </p:txBody>
      </p:sp>
      <p:sp>
        <p:nvSpPr>
          <p:cNvPr id="3" name="Content Placeholder 2"/>
          <p:cNvSpPr>
            <a:spLocks noGrp="1"/>
          </p:cNvSpPr>
          <p:nvPr>
            <p:ph idx="1"/>
          </p:nvPr>
        </p:nvSpPr>
        <p:spPr/>
        <p:txBody>
          <a:bodyPr/>
          <a:lstStyle/>
          <a:p>
            <a:pPr lvl="0" indent="0" marL="0">
              <a:buNone/>
            </a:pPr>
            <a:r>
              <a:rPr/>
              <a:t>AI can support you at every step of the 8-step Theory U process.</a:t>
            </a:r>
          </a:p>
          <a:p>
            <a:pPr lvl="0" indent="-342900" marL="342900">
              <a:buAutoNum type="arabicPeriod"/>
            </a:pPr>
            <a:r>
              <a:rPr b="1"/>
              <a:t>Problem ID</a:t>
            </a:r>
            <a:r>
              <a:rPr/>
              <a:t> -&gt; AI can summarize stakeholder interviews.</a:t>
            </a:r>
          </a:p>
          <a:p>
            <a:pPr lvl="0" indent="-342900" marL="342900">
              <a:buAutoNum type="arabicPeriod"/>
            </a:pPr>
            <a:r>
              <a:rPr b="1"/>
              <a:t>Data Collection</a:t>
            </a:r>
            <a:r>
              <a:rPr/>
              <a:t> -&gt; AI can help structure raw data.</a:t>
            </a:r>
          </a:p>
          <a:p>
            <a:pPr lvl="0" indent="-342900" marL="342900">
              <a:buAutoNum type="arabicPeriod"/>
            </a:pPr>
            <a:r>
              <a:rPr b="1"/>
              <a:t>Ideation</a:t>
            </a:r>
            <a:r>
              <a:rPr/>
              <a:t> -&gt; AI can brainstorm potential solutions.</a:t>
            </a:r>
          </a:p>
          <a:p>
            <a:pPr lvl="0" indent="-342900" marL="342900">
              <a:buAutoNum type="arabicPeriod"/>
            </a:pPr>
            <a:r>
              <a:rPr b="1"/>
              <a:t>Validation</a:t>
            </a:r>
            <a:r>
              <a:rPr/>
              <a:t> -&gt; AI can draft feedback surveys.</a:t>
            </a:r>
          </a:p>
          <a:p>
            <a:pPr lvl="0" indent="-342900" marL="342900">
              <a:buAutoNum type="arabicPeriod"/>
            </a:pPr>
            <a:r>
              <a:rPr b="1"/>
              <a:t>Proposal</a:t>
            </a:r>
            <a:r>
              <a:rPr/>
              <a:t> -&gt; AI can help draft your MVP document.</a:t>
            </a:r>
          </a:p>
          <a:p>
            <a:pPr lvl="0" indent="-342900" marL="342900">
              <a:buAutoNum type="arabicPeriod"/>
            </a:pPr>
            <a:r>
              <a:rPr b="1"/>
              <a:t>Engagement</a:t>
            </a:r>
            <a:r>
              <a:rPr/>
              <a:t> -&gt; AI can summarize community feedback.</a:t>
            </a:r>
          </a:p>
          <a:p>
            <a:pPr lvl="0" indent="-342900" marL="342900">
              <a:buAutoNum type="arabicPeriod"/>
            </a:pPr>
            <a:r>
              <a:rPr b="1"/>
              <a:t>Testing</a:t>
            </a:r>
            <a:r>
              <a:rPr/>
              <a:t> -&gt; AI can help document test results.</a:t>
            </a:r>
          </a:p>
          <a:p>
            <a:pPr lvl="0" indent="-342900" marL="342900">
              <a:buAutoNum type="arabicPeriod"/>
            </a:pPr>
            <a:r>
              <a:rPr b="1"/>
              <a:t>Scaling</a:t>
            </a:r>
            <a:r>
              <a:rPr/>
              <a:t> -&gt; AI can draft implementation plans.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Recap</a:t>
            </a:r>
          </a:p>
        </p:txBody>
      </p:sp>
      <p:sp>
        <p:nvSpPr>
          <p:cNvPr id="3" name="Content Placeholder 2"/>
          <p:cNvSpPr>
            <a:spLocks noGrp="1"/>
          </p:cNvSpPr>
          <p:nvPr>
            <p:ph idx="1"/>
          </p:nvPr>
        </p:nvSpPr>
        <p:spPr/>
        <p:txBody>
          <a:bodyPr/>
          <a:lstStyle/>
          <a:p>
            <a:pPr lvl="0" indent="0" marL="0">
              <a:buNone/>
            </a:pPr>
            <a:r>
              <a:rPr/>
              <a:t>What have we learned?</a:t>
            </a:r>
          </a:p>
          <a:p>
            <a:pPr lvl="0"/>
            <a:r>
              <a:rPr/>
              <a:t>🤖 AI is a </a:t>
            </a:r>
            <a:r>
              <a:rPr b="1"/>
              <a:t>powerful research assistant</a:t>
            </a:r>
            <a:r>
              <a:rPr/>
              <a:t>, not an oracle.</a:t>
            </a:r>
          </a:p>
          <a:p>
            <a:pPr lvl="0"/>
            <a:r>
              <a:rPr/>
              <a:t>💬 The </a:t>
            </a:r>
            <a:r>
              <a:rPr b="1"/>
              <a:t>quality of your prompt</a:t>
            </a:r>
            <a:r>
              <a:rPr/>
              <a:t> determines the quality of your output. Remember </a:t>
            </a:r>
            <a:r>
              <a:rPr b="1"/>
              <a:t>CARE</a:t>
            </a:r>
            <a:r>
              <a:rPr/>
              <a:t>.</a:t>
            </a:r>
          </a:p>
          <a:p>
            <a:pPr lvl="0"/>
            <a:r>
              <a:rPr/>
              <a:t>🛡️ Use a </a:t>
            </a:r>
            <a:r>
              <a:rPr b="1"/>
              <a:t>safe, private environment</a:t>
            </a:r>
            <a:r>
              <a:rPr/>
              <a:t> like OpenWebUI for your research.</a:t>
            </a:r>
          </a:p>
          <a:p>
            <a:pPr lvl="0"/>
            <a:r>
              <a:rPr/>
              <a:t>⚠️ Be critical. Always </a:t>
            </a:r>
            <a:r>
              <a:rPr b="1"/>
              <a:t>verify facts</a:t>
            </a:r>
            <a:r>
              <a:rPr/>
              <a:t> and </a:t>
            </a:r>
            <a:r>
              <a:rPr b="1"/>
              <a:t>question biases</a:t>
            </a:r>
            <a:r>
              <a:rPr/>
              <a:t>.</a:t>
            </a:r>
          </a:p>
          <a:p>
            <a:pPr lvl="0"/>
            <a:r>
              <a:rPr/>
              <a:t>YOU are in control.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Next Steps</a:t>
            </a:r>
          </a:p>
        </p:txBody>
      </p:sp>
      <p:sp>
        <p:nvSpPr>
          <p:cNvPr id="3" name="Content Placeholder 2"/>
          <p:cNvSpPr>
            <a:spLocks noGrp="1"/>
          </p:cNvSpPr>
          <p:nvPr>
            <p:ph idx="1"/>
          </p:nvPr>
        </p:nvSpPr>
        <p:spPr/>
        <p:txBody>
          <a:bodyPr/>
          <a:lstStyle/>
          <a:p>
            <a:pPr lvl="0" indent="-342900" marL="342900">
              <a:buAutoNum type="arabicPeriod"/>
            </a:pPr>
            <a:r>
              <a:rPr b="1"/>
              <a:t>Start Small:</a:t>
            </a:r>
            <a:r>
              <a:rPr/>
              <a:t> Don’t try to automate your entire workflow tomorrow. Pick one small, low-risk task.</a:t>
            </a:r>
          </a:p>
          <a:p>
            <a:pPr lvl="0" indent="-342900" marL="342900">
              <a:buAutoNum type="arabicPeriod"/>
            </a:pPr>
            <a:r>
              <a:rPr b="1"/>
              <a:t>Practice:</a:t>
            </a:r>
            <a:r>
              <a:rPr/>
              <a:t> Use OpenWebUI to summarize articles you’re reading or structure your meeting notes.</a:t>
            </a:r>
          </a:p>
          <a:p>
            <a:pPr lvl="0" indent="-342900" marL="342900">
              <a:buAutoNum type="arabicPeriod"/>
            </a:pPr>
            <a:r>
              <a:rPr b="1"/>
              <a:t>Share:</a:t>
            </a:r>
            <a:r>
              <a:rPr/>
              <a:t> Talk to your peers and supervisors about how you’re using AI. Share what works and what doesn’t.</a:t>
            </a:r>
          </a:p>
          <a:p>
            <a:pPr lvl="0" indent="-342900" marL="342900">
              <a:buAutoNum type="arabicPeriod"/>
            </a:pPr>
            <a:r>
              <a:rPr b="1"/>
              <a:t>Stay Curious:</a:t>
            </a:r>
            <a:r>
              <a:rPr/>
              <a:t> This field is changing fast. Keep learning and experimenting.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Q&amp;A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a:t> </a:t>
            </a:r>
          </a:p>
          <a:p>
            <a:pPr lvl="0" indent="0" marL="0">
              <a:buNone/>
            </a:pPr>
            <a:r>
              <a:rPr b="1"/>
              <a:t>Christiaan Verhoef</a:t>
            </a:r>
            <a:r>
              <a:rPr/>
              <a:t>  cg.verhoef@windesheim.nl  https://valuechainhackers.xyz</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Researchers</dc:title>
  <dc:creator>C.G Verhoef</dc:creator>
  <cp:keywords/>
  <dcterms:created xsi:type="dcterms:W3CDTF">2026-01-01T19:57:12Z</dcterms:created>
  <dcterms:modified xsi:type="dcterms:W3CDTF">2026-01-01T19:57:12Z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2026-01-01</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revealjs-plugins">
    <vt:lpwstr/>
  </property>
  <property fmtid="{D5CDD505-2E9C-101B-9397-08002B2CF9AE}" pid="11" name="subtitle">
    <vt:lpwstr>From Foundations to Application</vt:lpwstr>
  </property>
  <property fmtid="{D5CDD505-2E9C-101B-9397-08002B2CF9AE}" pid="12" name="toc-title">
    <vt:lpwstr>Table of contents</vt:lpwstr>
  </property>
</Properties>
</file>